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101772-411D-AB48-A31E-752D5CA064A9}" type="datetimeFigureOut">
              <a:rPr lang="en-AE" smtClean="0"/>
              <a:t>19/02/2026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600634-805C-DC46-BA2E-AC20C2D5907E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44189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600634-805C-DC46-BA2E-AC20C2D5907E}" type="slidenum">
              <a:rPr lang="en-AE" smtClean="0"/>
              <a:t>1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5610090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600634-805C-DC46-BA2E-AC20C2D5907E}" type="slidenum">
              <a:rPr lang="en-AE" smtClean="0"/>
              <a:t>4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8992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17E568-6BC0-8FB3-FD50-572855201A7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492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E" sz="7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F4A567-B549-A68F-9ABE-51A8E0A80B9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52387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E" sz="7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RESTRICTED 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14400" y="2560320"/>
            <a:ext cx="1371600" cy="508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E2E8F0"/>
                </a:solidFill>
                <a:latin typeface="Calibri"/>
              </a:defRPr>
            </a:pPr>
            <a:r>
              <a:rPr dirty="0" err="1"/>
              <a:t>InsightAI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4A3B8"/>
                </a:solidFill>
                <a:latin typeface="Calibri"/>
              </a:defRPr>
            </a:pPr>
            <a:r>
              <a:rPr dirty="0"/>
              <a:t>Multimodal Meeting Intelligence — Powered by Core42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Bringing </a:t>
            </a:r>
            <a:r>
              <a:rPr b="1" dirty="0">
                <a:solidFill>
                  <a:schemeClr val="bg1"/>
                </a:solidFill>
              </a:rPr>
              <a:t>Artificial Emotional Intelligence (AEI) 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to every conversation.</a:t>
            </a:r>
            <a:br>
              <a:rPr dirty="0">
                <a:solidFill>
                  <a:schemeClr val="bg1">
                    <a:lumMod val="85000"/>
                  </a:schemeClr>
                </a:solidFill>
              </a:rPr>
            </a:br>
            <a:r>
              <a:rPr dirty="0">
                <a:solidFill>
                  <a:schemeClr val="bg1">
                    <a:lumMod val="75000"/>
                  </a:schemeClr>
                </a:solidFill>
              </a:rPr>
              <a:t>Video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  +  Audio  +  Text  →  Engagement  |  Coaching  |  Actionable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75000"/>
                  </a:schemeClr>
                </a:solidFill>
              </a:rPr>
              <a:t>Internal POC  •  February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2308DD-B9F0-3FFF-EED3-6B724AB85E42}"/>
              </a:ext>
            </a:extLst>
          </p:cNvPr>
          <p:cNvSpPr txBox="1"/>
          <p:nvPr/>
        </p:nvSpPr>
        <p:spPr>
          <a:xfrm>
            <a:off x="914400" y="5972591"/>
            <a:ext cx="22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E" sz="1400" b="1" dirty="0">
                <a:solidFill>
                  <a:schemeClr val="bg1">
                    <a:lumMod val="75000"/>
                  </a:schemeClr>
                </a:solidFill>
              </a:rPr>
              <a:t>Presented by : Anup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51560"/>
            <a:ext cx="914400" cy="381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108960" cy="384048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2560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4444"/>
                </a:solidFill>
                <a:latin typeface="Calibri"/>
              </a:defRPr>
            </a:pPr>
            <a:r>
              <a:rPr sz="2800" dirty="0">
                <a:solidFill>
                  <a:srgbClr val="92D050"/>
                </a:solidFill>
              </a:rPr>
              <a:t>93%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Calibri"/>
              </a:defRPr>
            </a:pPr>
            <a:r>
              <a:t>of communication</a:t>
            </a:r>
            <a:br/>
            <a:r>
              <a:t>is non-verbal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Text-only tools like Gong, Chorus</a:t>
            </a:r>
            <a:br/>
            <a:r>
              <a:t>capture words but miss body language,</a:t>
            </a:r>
            <a:br/>
            <a:r>
              <a:t>tone, energy, and facial expressions.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108960" cy="384048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2560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4444"/>
                </a:solidFill>
                <a:latin typeface="Calibri"/>
              </a:defRPr>
            </a:pPr>
            <a:r>
              <a:rPr sz="2800" dirty="0">
                <a:solidFill>
                  <a:srgbClr val="92D050"/>
                </a:solidFill>
              </a:rPr>
              <a:t>No Real-Time</a:t>
            </a:r>
            <a:br>
              <a:rPr sz="2800" dirty="0">
                <a:solidFill>
                  <a:srgbClr val="92D050"/>
                </a:solidFill>
              </a:rPr>
            </a:br>
            <a:r>
              <a:rPr sz="2800" dirty="0">
                <a:solidFill>
                  <a:srgbClr val="92D050"/>
                </a:solidFill>
              </a:rPr>
              <a:t>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Calibri"/>
              </a:defRPr>
            </a:pPr>
            <a:r>
              <a:t>during the</a:t>
            </a:r>
            <a:br/>
            <a:r>
              <a:t>conversation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657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Coaching happens days later in a</a:t>
            </a:r>
            <a:br/>
            <a:r>
              <a:t>report nobody reads. By then the</a:t>
            </a:r>
            <a:br/>
            <a:r>
              <a:t>deal is lost or the candidate gone.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45920"/>
            <a:ext cx="3108960" cy="384048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1920240"/>
            <a:ext cx="2560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4444"/>
                </a:solidFill>
                <a:latin typeface="Calibri"/>
              </a:defRPr>
            </a:pPr>
            <a:r>
              <a:rPr sz="2800" dirty="0">
                <a:solidFill>
                  <a:srgbClr val="92D050"/>
                </a:solidFill>
              </a:rPr>
              <a:t>Scores Without</a:t>
            </a:r>
            <a:br>
              <a:rPr sz="2800" dirty="0">
                <a:solidFill>
                  <a:srgbClr val="92D050"/>
                </a:solidFill>
              </a:rPr>
            </a:br>
            <a:r>
              <a:rPr sz="2800" dirty="0">
                <a:solidFill>
                  <a:srgbClr val="92D050"/>
                </a:solidFill>
              </a:rPr>
              <a:t>Explanation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Calibri"/>
              </a:defRPr>
            </a:pPr>
            <a:r>
              <a:t>black-box</a:t>
            </a:r>
            <a:br/>
            <a:r>
              <a:t>AI ratings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657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Managers see a number but can't</a:t>
            </a:r>
            <a:br/>
            <a:r>
              <a:t>tell reps WHY the score is low or</a:t>
            </a:r>
            <a:br/>
            <a:r>
              <a:t>WHAT specific behavior to change.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Calibri"/>
              </a:defRPr>
            </a:pPr>
            <a:r>
              <a:t>We need multimodal intelligence — analyzing video, voice, and words together — with real-time, explainable insights.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InsightAI — What We Built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51560"/>
            <a:ext cx="914400" cy="381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An AI-powered meeting analysis platform that reads the room — not just the transcript.</a:t>
            </a:r>
            <a:br/>
            <a:r>
              <a:t>It watches faces, listens to tone, and reads words to deliver a complete picture of every conversation.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108960" cy="146304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What They 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97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👁  Visual 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Facial expressions, posture,</a:t>
            </a:r>
            <a:br/>
            <a:r>
              <a:t>gestures, eye contact, energy</a:t>
            </a:r>
            <a:br/>
            <a:r>
              <a:t>level — frame by frame.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108960" cy="146304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alibri"/>
              </a:defRPr>
            </a:pPr>
            <a:r>
              <a:t>How They Sound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97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🎙  Audio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Pitch, volume, speaking pace,</a:t>
            </a:r>
            <a:br/>
            <a:r>
              <a:t>pauses, vocal energy —</a:t>
            </a:r>
            <a:br/>
            <a:r>
              <a:t>per speaker, per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286000"/>
            <a:ext cx="3108960" cy="146304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What They Say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697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💬  Text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Topics, sentiment, objections,</a:t>
            </a:r>
            <a:br/>
            <a:r>
              <a:t>questions, action items —</a:t>
            </a:r>
            <a:br/>
            <a:r>
              <a:t>full transcript intelligence.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931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Calibri"/>
              </a:defRPr>
            </a:pPr>
            <a:r>
              <a:t>▼  AI Fusion  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Engagement 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Per-person engagement, energy,</a:t>
            </a:r>
            <a:br/>
            <a:r>
              <a:t>rapport, clarity — explained.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11880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Smart Coaching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What went well, what to improve,</a:t>
            </a:r>
            <a:br/>
            <a:r>
              <a:t>next-best-action suggestions.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39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Meeting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39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Summary, action items, decisions,</a:t>
            </a:r>
            <a:br/>
            <a:r>
              <a:t>follow-ups — auto-generated.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19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72599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alibri"/>
              </a:defRPr>
            </a:pPr>
            <a:r>
              <a:t>Reports &amp;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599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PDF export, critical moments</a:t>
            </a:r>
            <a:br/>
            <a:r>
              <a:t>flagged on the timeline.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Two modes:  Real-Time (live analysis during playback)   +   Deep Analysis (batch processing for maximum accuracy)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Powered by Core42 Compass  —  100% cloud API, no local GPU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0309" y="40389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rPr dirty="0"/>
              <a:t>Beyond This POC — Artificial Emotional Intelligence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64256"/>
            <a:ext cx="914400" cy="38100"/>
          </a:xfrm>
          <a:prstGeom prst="roundRect">
            <a:avLst/>
          </a:prstGeom>
          <a:solidFill>
            <a:srgbClr val="F0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18290"/>
            <a:ext cx="108813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0B0D0"/>
                </a:solidFill>
                <a:latin typeface="Calibri"/>
              </a:defRPr>
            </a:pPr>
            <a:r>
              <a:rPr dirty="0"/>
              <a:t>No off-the-shelf AEI models exist — companies like </a:t>
            </a:r>
            <a:r>
              <a:rPr dirty="0" err="1"/>
              <a:t>Simpleem</a:t>
            </a:r>
            <a:r>
              <a:rPr dirty="0"/>
              <a:t> and </a:t>
            </a:r>
            <a:r>
              <a:rPr dirty="0" err="1"/>
              <a:t>Affectiva</a:t>
            </a:r>
            <a:r>
              <a:rPr dirty="0"/>
              <a:t> keep theirs proprietary.</a:t>
            </a:r>
            <a:br>
              <a:rPr dirty="0"/>
            </a:br>
            <a:r>
              <a:rPr dirty="0"/>
              <a:t>We combined general-purpose models (GPT-4o Vision, Whisper, GPT-4.1) to bridge the gap. Training a dedicated model is the next</a:t>
            </a:r>
            <a:r>
              <a:rPr lang="en-US" dirty="0"/>
              <a:t> </a:t>
            </a:r>
            <a:r>
              <a:rPr dirty="0"/>
              <a:t>leap.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38048"/>
            <a:ext cx="10241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Where this multimodal engine can go: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rPr dirty="0"/>
              <a:t>Predict deal outcomes</a:t>
            </a:r>
            <a:br>
              <a:rPr dirty="0"/>
            </a:br>
            <a:r>
              <a:rPr dirty="0"/>
              <a:t>from rep behavior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292608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79" y="3063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rPr dirty="0"/>
              <a:t>Reduce interviewer bias</a:t>
            </a:r>
            <a:br>
              <a:rPr dirty="0"/>
            </a:br>
            <a:r>
              <a:rPr dirty="0"/>
              <a:t>with behavioral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92608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0" y="3063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474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rPr dirty="0"/>
              <a:t>Measure engagement</a:t>
            </a:r>
            <a:br>
              <a:rPr dirty="0"/>
            </a:br>
            <a:r>
              <a:rPr dirty="0"/>
              <a:t>in real-time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Customer Success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Detect churn risk</a:t>
            </a:r>
            <a:br/>
            <a:r>
              <a:t>from call sentiment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59" y="457200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79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alibri"/>
              </a:defRPr>
            </a:pPr>
            <a:r>
              <a:rPr dirty="0"/>
              <a:t>Healthcare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5120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Track patient state</a:t>
            </a:r>
            <a:br/>
            <a:r>
              <a:t>during consultations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57200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06E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0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6EAA"/>
                </a:solidFill>
                <a:latin typeface="Calibri"/>
              </a:defRPr>
            </a:pPr>
            <a:r>
              <a:t>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120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Measure team dynamics</a:t>
            </a:r>
            <a:br/>
            <a:r>
              <a:t>and inclusion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599" y="6126479"/>
            <a:ext cx="93071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Calibri"/>
              </a:defRPr>
            </a:pPr>
            <a:r>
              <a:rPr dirty="0"/>
              <a:t>Out of scope today — but building a dedicated AEI model is a strategic direction worth a separate proposal.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What You're About to See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51560"/>
            <a:ext cx="914400" cy="381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Live demo walkthrough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6576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Upload &amp;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Upload a meeting recording → watch the AI</a:t>
            </a:r>
            <a:br/>
            <a:r>
              <a:t>progress through analysis stages in real-time.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01168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0" y="2194560"/>
            <a:ext cx="36576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94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Calibri"/>
              </a:defRPr>
            </a:pPr>
            <a:r>
              <a:t>Dashboard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432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Per-participant engagement, sentiment, energy</a:t>
            </a:r>
            <a:br/>
            <a:r>
              <a:t>scores. Speaking distribution donut chart.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0" y="2194560"/>
            <a:ext cx="365760" cy="365760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194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8CF8"/>
                </a:solidFill>
                <a:latin typeface="Calibri"/>
              </a:defRPr>
            </a:pPr>
            <a:r>
              <a:t>Signal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7432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Emotion timeline, body language trends,</a:t>
            </a:r>
            <a:br/>
            <a:r>
              <a:t>gesture frequency, voice metrics per speaker.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11480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400" y="4297680"/>
            <a:ext cx="36576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2976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Calibri"/>
              </a:defRPr>
            </a:pPr>
            <a:r>
              <a:t>Meeting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8463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AI-generated summary, action items, decisions,</a:t>
            </a:r>
            <a:br/>
            <a:r>
              <a:t>follow-ups, and open questions.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411480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72000" y="4297680"/>
            <a:ext cx="3657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976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Coaching &amp;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8463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Critical moments flagged on the timeline.</a:t>
            </a:r>
            <a:br/>
            <a:r>
              <a:t>Personalized coaching tips per participant.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411480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229600" y="4297680"/>
            <a:ext cx="365760" cy="365760"/>
          </a:xfrm>
          <a:prstGeom prst="roundRect">
            <a:avLst/>
          </a:prstGeom>
          <a:solidFill>
            <a:srgbClr val="F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2976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6060"/>
                </a:solidFill>
                <a:latin typeface="Calibri"/>
              </a:defRPr>
            </a:pPr>
            <a:r>
              <a:t>One-Click Export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8463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Full PDF report and CSV data export</a:t>
            </a:r>
            <a:br/>
            <a:r>
              <a:t>ready to share with stakeholders.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126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Calibri"/>
              </a:defRPr>
            </a:pPr>
            <a:r>
              <a:t>Let's see it in action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610</Words>
  <Application>Microsoft Macintosh PowerPoint</Application>
  <PresentationFormat>Widescreen</PresentationFormat>
  <Paragraphs>77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Anup Roy</cp:lastModifiedBy>
  <cp:revision>3</cp:revision>
  <dcterms:created xsi:type="dcterms:W3CDTF">2013-01-27T09:14:16Z</dcterms:created>
  <dcterms:modified xsi:type="dcterms:W3CDTF">2026-02-19T18:00:51Z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9ea7407-5844-49ec-aa4f-9b4135bf0609_Enabled">
    <vt:lpwstr>true</vt:lpwstr>
  </property>
  <property fmtid="{D5CDD505-2E9C-101B-9397-08002B2CF9AE}" pid="3" name="MSIP_Label_09ea7407-5844-49ec-aa4f-9b4135bf0609_SetDate">
    <vt:lpwstr>2026-02-19T07:45:35Z</vt:lpwstr>
  </property>
  <property fmtid="{D5CDD505-2E9C-101B-9397-08002B2CF9AE}" pid="4" name="MSIP_Label_09ea7407-5844-49ec-aa4f-9b4135bf0609_Method">
    <vt:lpwstr>Standard</vt:lpwstr>
  </property>
  <property fmtid="{D5CDD505-2E9C-101B-9397-08002B2CF9AE}" pid="5" name="MSIP_Label_09ea7407-5844-49ec-aa4f-9b4135bf0609_Name">
    <vt:lpwstr>Restricted-Core42</vt:lpwstr>
  </property>
  <property fmtid="{D5CDD505-2E9C-101B-9397-08002B2CF9AE}" pid="6" name="MSIP_Label_09ea7407-5844-49ec-aa4f-9b4135bf0609_SiteId">
    <vt:lpwstr>62974d97-13b6-40c9-8576-f1ab2905b6cf</vt:lpwstr>
  </property>
  <property fmtid="{D5CDD505-2E9C-101B-9397-08002B2CF9AE}" pid="7" name="MSIP_Label_09ea7407-5844-49ec-aa4f-9b4135bf0609_ActionId">
    <vt:lpwstr>fe1eaa0e-4d9c-47a3-9c60-d647014e5613</vt:lpwstr>
  </property>
  <property fmtid="{D5CDD505-2E9C-101B-9397-08002B2CF9AE}" pid="8" name="MSIP_Label_09ea7407-5844-49ec-aa4f-9b4135bf0609_ContentBits">
    <vt:lpwstr>3</vt:lpwstr>
  </property>
  <property fmtid="{D5CDD505-2E9C-101B-9397-08002B2CF9AE}" pid="9" name="MSIP_Label_09ea7407-5844-49ec-aa4f-9b4135bf0609_Tag">
    <vt:lpwstr>50, 1, 2, 1</vt:lpwstr>
  </property>
  <property fmtid="{D5CDD505-2E9C-101B-9397-08002B2CF9AE}" pid="10" name="ClassificationContentMarkingFooterLocations">
    <vt:lpwstr>Office Theme:10</vt:lpwstr>
  </property>
  <property fmtid="{D5CDD505-2E9C-101B-9397-08002B2CF9AE}" pid="11" name="ClassificationContentMarkingFooterText">
    <vt:lpwstr>RESTRICTED </vt:lpwstr>
  </property>
  <property fmtid="{D5CDD505-2E9C-101B-9397-08002B2CF9AE}" pid="12" name="ClassificationContentMarkingHeaderLocations">
    <vt:lpwstr>Office Theme:9</vt:lpwstr>
  </property>
  <property fmtid="{D5CDD505-2E9C-101B-9397-08002B2CF9AE}" pid="13" name="ClassificationContentMarkingHeaderText">
    <vt:lpwstr> </vt:lpwstr>
  </property>
</Properties>
</file>