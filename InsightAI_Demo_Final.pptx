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55850"/>
  </p:normalViewPr>
  <p:slideViewPr>
    <p:cSldViewPr snapToGrid="0" snapToObjects="1">
      <p:cViewPr varScale="1">
        <p:scale>
          <a:sx n="54" d="100"/>
          <a:sy n="54" d="100"/>
        </p:scale>
        <p:origin x="3360" y="5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101772-411D-AB48-A31E-752D5CA064A9}" type="datetimeFigureOut">
              <a:rPr lang="en-AE" smtClean="0"/>
              <a:t>21/02/2026</a:t>
            </a:fld>
            <a:endParaRPr lang="en-A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600634-805C-DC46-BA2E-AC20C2D5907E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44189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                                                                                                                   </a:t>
            </a:r>
          </a:p>
          <a:p>
            <a:r>
              <a:rPr lang="en-US" dirty="0"/>
              <a:t>  - "Thank you everyone for joining. I'm Anup, and today I want to show you something we've been building — </a:t>
            </a:r>
            <a:r>
              <a:rPr lang="en-US" dirty="0" err="1"/>
              <a:t>InsightAI</a:t>
            </a:r>
            <a:r>
              <a:rPr lang="en-US" dirty="0"/>
              <a:t>."</a:t>
            </a:r>
          </a:p>
          <a:p>
            <a:r>
              <a:rPr lang="en-US" dirty="0"/>
              <a:t>  - "The core idea is simple: meetings are multimodal — people communicate through their face, their voice, and their words. But every</a:t>
            </a:r>
          </a:p>
          <a:p>
            <a:r>
              <a:rPr lang="en-US" dirty="0"/>
              <a:t>  tool on the market today only analyzes the transcript. We built something that analyzes all three channels together."</a:t>
            </a:r>
          </a:p>
          <a:p>
            <a:r>
              <a:rPr lang="en-US" dirty="0"/>
              <a:t>  - "This is powered entirely by Core42 Compass — no local GPUs, no on-prem infrastructure. Pure cloud API."</a:t>
            </a:r>
          </a:p>
          <a:p>
            <a:r>
              <a:rPr lang="en-US" dirty="0"/>
              <a:t>  - "What you'll see today is a working POC — not slides, not mockups — a real system analyzing a real meeting recording."</a:t>
            </a:r>
          </a:p>
          <a:p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600634-805C-DC46-BA2E-AC20C2D5907E}" type="slidenum">
              <a:rPr lang="en-AE" smtClean="0"/>
              <a:t>1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5610090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"Let me set the context. 93% of communication is non-verbal — that's decades of research from Mehrabian and others. Yet tools like</a:t>
            </a:r>
          </a:p>
          <a:p>
            <a:r>
              <a:rPr lang="en-US" dirty="0"/>
              <a:t>  Gong and Chorus throw away 93% of the signal and only analyze the transcript."</a:t>
            </a:r>
          </a:p>
          <a:p>
            <a:r>
              <a:rPr lang="en-US" dirty="0"/>
              <a:t>  - "Second problem — coaching is always retroactive. A manager reviews a call 3 days later, writes feedback nobody reads. By then the</a:t>
            </a:r>
          </a:p>
          <a:p>
            <a:r>
              <a:rPr lang="en-US" dirty="0"/>
              <a:t>  deal is cold or the candidate took another offer. What if the system could coach you during the conversation?"</a:t>
            </a:r>
          </a:p>
          <a:p>
            <a:r>
              <a:rPr lang="en-US" dirty="0"/>
              <a:t>  - "Third — even when these tools give scores, they're black boxes. A rep gets a 62 but has no idea what specific behavior dragged them</a:t>
            </a:r>
          </a:p>
          <a:p>
            <a:r>
              <a:rPr lang="en-US" dirty="0"/>
              <a:t>  down. Was it their energy? Their body language? Their pacing? Without that granularity, scores are useless."</a:t>
            </a:r>
          </a:p>
          <a:p>
            <a:r>
              <a:rPr lang="en-US" dirty="0"/>
              <a:t>  - "The gap in the market is clear: we need something that watches, listens, AND reads — and explains its reasoning in real time."</a:t>
            </a:r>
          </a:p>
          <a:p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600634-805C-DC46-BA2E-AC20C2D5907E}" type="slidenum">
              <a:rPr lang="en-AE" smtClean="0"/>
              <a:t>2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1418588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Architecture :</a:t>
            </a:r>
          </a:p>
          <a:p>
            <a:r>
              <a:rPr lang="en-US" dirty="0"/>
              <a:t>  - "So here's what </a:t>
            </a:r>
            <a:r>
              <a:rPr lang="en-US" dirty="0" err="1"/>
              <a:t>InsightAI</a:t>
            </a:r>
            <a:r>
              <a:rPr lang="en-US" dirty="0"/>
              <a:t> does. Three input channels fuse into one intelligence layer."</a:t>
            </a:r>
          </a:p>
          <a:p>
            <a:r>
              <a:rPr lang="en-US" dirty="0"/>
              <a:t>  - "Visual channel — we extract frames from the video and use GPT-4o Vision to analyze facial expressions, posture, gestures, eye</a:t>
            </a:r>
          </a:p>
          <a:p>
            <a:r>
              <a:rPr lang="en-US" dirty="0"/>
              <a:t>  contact, energy. This happens frame by frame, per participant."</a:t>
            </a:r>
          </a:p>
          <a:p>
            <a:r>
              <a:rPr lang="en-US" dirty="0"/>
              <a:t>  - "Audio channel — we use Whisper for transcription, then analyze pitch, volume, speaking pace, pauses. We can tell if someone's energy</a:t>
            </a:r>
          </a:p>
          <a:p>
            <a:r>
              <a:rPr lang="en-US" dirty="0"/>
              <a:t>  is dropping or if they're speaking too fast."</a:t>
            </a:r>
          </a:p>
          <a:p>
            <a:r>
              <a:rPr lang="en-US" dirty="0"/>
              <a:t>  - "Text channel — full transcript intelligence: topics, sentiment, objections, questions, action items. Not just what was said, but the</a:t>
            </a:r>
          </a:p>
          <a:p>
            <a:r>
              <a:rPr lang="en-US" dirty="0"/>
              <a:t>  intent behind it."</a:t>
            </a:r>
          </a:p>
          <a:p>
            <a:r>
              <a:rPr lang="en-US" dirty="0"/>
              <a:t>  - "These three channels fuse together to produce engagement scores that are explained — not just a number, but the specific signals that</a:t>
            </a:r>
          </a:p>
          <a:p>
            <a:r>
              <a:rPr lang="en-US" dirty="0"/>
              <a:t>   drove it. Plus smart coaching, auto-generated summaries, and a full PDF report."</a:t>
            </a:r>
          </a:p>
          <a:p>
            <a:r>
              <a:rPr lang="en-US" dirty="0"/>
              <a:t>  - "Two modes — real-time analysis during playback where you see signals update live, and deep batch analysis for maximum accuracy."</a:t>
            </a:r>
          </a:p>
          <a:p>
            <a:r>
              <a:rPr lang="en-US" dirty="0"/>
              <a:t>  - "And the key technical point: this runs 100% on Core42 Compass cloud APIs. No GPU cluster, no model hosting. We call the API, it</a:t>
            </a:r>
          </a:p>
          <a:p>
            <a:r>
              <a:rPr lang="en-US" dirty="0"/>
              <a:t>  returns analysis. That's the power of the Compass platform."</a:t>
            </a:r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600634-805C-DC46-BA2E-AC20C2D5907E}" type="slidenum">
              <a:rPr lang="en-AE" smtClean="0"/>
              <a:t>3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9173292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Strategic Vision :</a:t>
            </a:r>
          </a:p>
          <a:p>
            <a:r>
              <a:rPr lang="en-US" dirty="0"/>
              <a:t>  - "Now I want to zoom out for a moment. What we built is a multimodal analysis engine — but the real opportunity is much bigger."</a:t>
            </a:r>
          </a:p>
          <a:p>
            <a:r>
              <a:rPr lang="en-US" dirty="0"/>
              <a:t>  - "There's no off-the-shelf Artificial Emotional Intelligence model available today. Companies like </a:t>
            </a:r>
            <a:r>
              <a:rPr lang="en-US" dirty="0" err="1"/>
              <a:t>Simpleem</a:t>
            </a:r>
            <a:r>
              <a:rPr lang="en-US" dirty="0"/>
              <a:t>, </a:t>
            </a:r>
            <a:r>
              <a:rPr lang="en-US" dirty="0" err="1"/>
              <a:t>Affectiva</a:t>
            </a:r>
            <a:r>
              <a:rPr lang="en-US" dirty="0"/>
              <a:t>, Hume AI — they</a:t>
            </a:r>
          </a:p>
          <a:p>
            <a:r>
              <a:rPr lang="en-US" dirty="0"/>
              <a:t>  all keep their models proprietary. We bridged this gap by combining general-purpose models, but training a dedicated AEI model is the</a:t>
            </a:r>
          </a:p>
          <a:p>
            <a:r>
              <a:rPr lang="en-US" dirty="0"/>
              <a:t>  strategic next step."</a:t>
            </a:r>
          </a:p>
          <a:p>
            <a:r>
              <a:rPr lang="en-US" dirty="0"/>
              <a:t>  - "Where could this engine go? Sales — imagine predicting deal outcomes not from CRM data but from how the rep actually behaved on the</a:t>
            </a:r>
          </a:p>
          <a:p>
            <a:r>
              <a:rPr lang="en-US" dirty="0"/>
              <a:t>  call. HR — reducing interviewer bias with objective behavioral data instead of gut feelings. Training — measuring engagement in</a:t>
            </a:r>
          </a:p>
          <a:p>
            <a:r>
              <a:rPr lang="en-US" dirty="0"/>
              <a:t>  real-time during onboarding sessions."</a:t>
            </a:r>
          </a:p>
          <a:p>
            <a:r>
              <a:rPr lang="en-US" dirty="0"/>
              <a:t>  - "Customer Success — detecting churn risk from call sentiment before the customer even complains. Healthcare — tracking patient</a:t>
            </a:r>
          </a:p>
          <a:p>
            <a:r>
              <a:rPr lang="en-US" dirty="0"/>
              <a:t>  emotional state during telehealth. Leadership — measuring inclusion and team dynamics in real meetings."</a:t>
            </a:r>
          </a:p>
          <a:p>
            <a:r>
              <a:rPr lang="en-US" dirty="0"/>
              <a:t>  - "This is out of scope for today's demo — but I want to plant the seed. A dedicated AEI model trained on this data is a strategic asset</a:t>
            </a:r>
          </a:p>
          <a:p>
            <a:r>
              <a:rPr lang="en-US" dirty="0"/>
              <a:t>   worth a separate conversation."</a:t>
            </a:r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600634-805C-DC46-BA2E-AC20C2D5907E}" type="slidenum">
              <a:rPr lang="en-AE" smtClean="0"/>
              <a:t>4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689926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"Alright, let me show you the real thing. Here's what you're about to see in the live demo."</a:t>
            </a:r>
          </a:p>
          <a:p>
            <a:r>
              <a:rPr lang="en-US" dirty="0"/>
              <a:t>  - "First, I'll upload a meeting recording and you'll watch the AI process it in real time — you'll see the analysis stages progress."</a:t>
            </a:r>
          </a:p>
          <a:p>
            <a:r>
              <a:rPr lang="en-US" dirty="0"/>
              <a:t>  - "Then the dashboard — per-participant scores for engagement, sentiment, energy. A speaking distribution chart showing who dominated</a:t>
            </a:r>
          </a:p>
          <a:p>
            <a:r>
              <a:rPr lang="en-US" dirty="0"/>
              <a:t>  the conversation."</a:t>
            </a:r>
          </a:p>
          <a:p>
            <a:r>
              <a:rPr lang="en-US" dirty="0"/>
              <a:t>  - "We'll dive into individual signals — emotion timelines, body language trends, voice metrics. You'll see exactly why each person got</a:t>
            </a:r>
          </a:p>
          <a:p>
            <a:r>
              <a:rPr lang="en-US" dirty="0"/>
              <a:t>  their score."</a:t>
            </a:r>
          </a:p>
          <a:p>
            <a:r>
              <a:rPr lang="en-US" dirty="0"/>
              <a:t>  - "Then the meeting intelligence layer — AI-generated summary, action items, decisions, follow-ups. And coaching tips flagged at</a:t>
            </a:r>
          </a:p>
          <a:p>
            <a:r>
              <a:rPr lang="en-US" dirty="0"/>
              <a:t>  specific moments in the timeline."</a:t>
            </a:r>
          </a:p>
          <a:p>
            <a:r>
              <a:rPr lang="en-US" dirty="0"/>
              <a:t>  - "Finally, one-click export — a full PDF report you could hand to a stakeholder today."</a:t>
            </a:r>
          </a:p>
          <a:p>
            <a:r>
              <a:rPr lang="en-US" dirty="0"/>
              <a:t>  - "Let's switch to the app and see it live."</a:t>
            </a:r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600634-805C-DC46-BA2E-AC20C2D5907E}" type="slidenum">
              <a:rPr lang="en-AE" smtClean="0"/>
              <a:t>5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5005203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17E568-6BC0-8FB3-FD50-572855201A7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34925" cy="1066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E" sz="700">
                <a:solidFill>
                  <a:srgbClr val="FF0000">
                    <a:alpha val="50000"/>
                  </a:srgbClr>
                </a:solidFill>
                <a:latin typeface="Aptos" panose="020B0004020202020204" pitchFamily="34" charset="0"/>
              </a:rPr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F4A567-B549-A68F-9ABE-51A8E0A80B9E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87820"/>
            <a:ext cx="523875" cy="1066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E" sz="700">
                <a:solidFill>
                  <a:srgbClr val="FF0000">
                    <a:alpha val="50000"/>
                  </a:srgbClr>
                </a:solidFill>
                <a:latin typeface="Aptos" panose="020B0004020202020204" pitchFamily="34" charset="0"/>
              </a:rPr>
              <a:t>RESTRICTED 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14400" y="2560320"/>
            <a:ext cx="1371600" cy="508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E2E8F0"/>
                </a:solidFill>
                <a:latin typeface="Calibri"/>
              </a:defRPr>
            </a:pPr>
            <a:r>
              <a:rPr dirty="0" err="1"/>
              <a:t>InsightAI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94A3B8"/>
                </a:solidFill>
                <a:latin typeface="Calibri"/>
              </a:defRPr>
            </a:pPr>
            <a:r>
              <a:rPr dirty="0"/>
              <a:t>Multimodal Meeting Intelligence — Powered by Core42 Compass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058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Calibri"/>
              </a:defRPr>
            </a:pPr>
            <a:r>
              <a:rPr dirty="0">
                <a:solidFill>
                  <a:schemeClr val="bg1">
                    <a:lumMod val="85000"/>
                  </a:schemeClr>
                </a:solidFill>
              </a:rPr>
              <a:t>Bringing </a:t>
            </a:r>
            <a:r>
              <a:rPr b="1" dirty="0">
                <a:solidFill>
                  <a:schemeClr val="bg1"/>
                </a:solidFill>
              </a:rPr>
              <a:t>Artificial Emotional Intelligence (AEI) </a:t>
            </a:r>
            <a:r>
              <a:rPr dirty="0">
                <a:solidFill>
                  <a:schemeClr val="bg1">
                    <a:lumMod val="85000"/>
                  </a:schemeClr>
                </a:solidFill>
              </a:rPr>
              <a:t>to every conversation.</a:t>
            </a:r>
            <a:br>
              <a:rPr dirty="0">
                <a:solidFill>
                  <a:schemeClr val="bg1">
                    <a:lumMod val="85000"/>
                  </a:schemeClr>
                </a:solidFill>
              </a:rPr>
            </a:br>
            <a:r>
              <a:rPr dirty="0">
                <a:solidFill>
                  <a:schemeClr val="bg1">
                    <a:lumMod val="75000"/>
                  </a:schemeClr>
                </a:solidFill>
              </a:rPr>
              <a:t>Video</a:t>
            </a:r>
            <a:r>
              <a:rPr dirty="0">
                <a:solidFill>
                  <a:schemeClr val="bg1">
                    <a:lumMod val="85000"/>
                  </a:schemeClr>
                </a:solidFill>
              </a:rPr>
              <a:t>  +  Audio  +  Text  →  Engagement  |  Coaching  |  Actionable Insights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760720"/>
            <a:ext cx="10058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rPr dirty="0">
                <a:solidFill>
                  <a:schemeClr val="bg1">
                    <a:lumMod val="75000"/>
                  </a:schemeClr>
                </a:solidFill>
              </a:rPr>
              <a:t>Internal POC  •  February 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2308DD-B9F0-3FFF-EED3-6B724AB85E42}"/>
              </a:ext>
            </a:extLst>
          </p:cNvPr>
          <p:cNvSpPr txBox="1"/>
          <p:nvPr/>
        </p:nvSpPr>
        <p:spPr>
          <a:xfrm>
            <a:off x="914400" y="5972591"/>
            <a:ext cx="22492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E" sz="1400" b="1" dirty="0">
                <a:solidFill>
                  <a:schemeClr val="bg1">
                    <a:lumMod val="75000"/>
                  </a:schemeClr>
                </a:solidFill>
              </a:rPr>
              <a:t>Presented by : Anup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2E8F0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051560"/>
            <a:ext cx="914400" cy="381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3108960" cy="3840480"/>
          </a:xfrm>
          <a:prstGeom prst="roundRect">
            <a:avLst/>
          </a:prstGeom>
          <a:solidFill>
            <a:srgbClr val="111D35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88720" y="1920240"/>
            <a:ext cx="2560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EF4444"/>
                </a:solidFill>
                <a:latin typeface="Calibri"/>
              </a:defRPr>
            </a:pPr>
            <a:r>
              <a:rPr sz="2800" dirty="0">
                <a:solidFill>
                  <a:srgbClr val="92D050"/>
                </a:solidFill>
              </a:rPr>
              <a:t>93%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9260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59E0B"/>
                </a:solidFill>
                <a:latin typeface="Calibri"/>
              </a:defRPr>
            </a:pPr>
            <a:r>
              <a:t>of communication</a:t>
            </a:r>
            <a:br/>
            <a:r>
              <a:t>is non-verbal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657600"/>
            <a:ext cx="2560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Text-only tools like Gong, Chorus</a:t>
            </a:r>
            <a:br/>
            <a:r>
              <a:t>capture words but miss body language,</a:t>
            </a:r>
            <a:br/>
            <a:r>
              <a:t>tone, energy, and facial expressions.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108960" cy="3840480"/>
          </a:xfrm>
          <a:prstGeom prst="roundRect">
            <a:avLst/>
          </a:prstGeom>
          <a:solidFill>
            <a:srgbClr val="111D35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63440" y="1920240"/>
            <a:ext cx="256032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EF4444"/>
                </a:solidFill>
                <a:latin typeface="Calibri"/>
              </a:defRPr>
            </a:pPr>
            <a:r>
              <a:rPr sz="2800" dirty="0">
                <a:solidFill>
                  <a:srgbClr val="92D050"/>
                </a:solidFill>
              </a:rPr>
              <a:t>No Real-Time</a:t>
            </a:r>
            <a:br>
              <a:rPr sz="2800" dirty="0">
                <a:solidFill>
                  <a:srgbClr val="92D050"/>
                </a:solidFill>
              </a:rPr>
            </a:br>
            <a:r>
              <a:rPr sz="2800" dirty="0">
                <a:solidFill>
                  <a:srgbClr val="92D050"/>
                </a:solidFill>
              </a:rPr>
              <a:t>Feedback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9260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59E0B"/>
                </a:solidFill>
                <a:latin typeface="Calibri"/>
              </a:defRPr>
            </a:pPr>
            <a:r>
              <a:t>during the</a:t>
            </a:r>
            <a:br/>
            <a:r>
              <a:t>conversation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657600"/>
            <a:ext cx="2560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Coaching happens days later in a</a:t>
            </a:r>
            <a:br/>
            <a:r>
              <a:t>report nobody reads. By then the</a:t>
            </a:r>
            <a:br/>
            <a:r>
              <a:t>deal is lost or the candidate gone.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1645920"/>
            <a:ext cx="3108960" cy="3840480"/>
          </a:xfrm>
          <a:prstGeom prst="roundRect">
            <a:avLst/>
          </a:prstGeom>
          <a:solidFill>
            <a:srgbClr val="111D35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38160" y="1920240"/>
            <a:ext cx="256032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EF4444"/>
                </a:solidFill>
                <a:latin typeface="Calibri"/>
              </a:defRPr>
            </a:pPr>
            <a:r>
              <a:rPr sz="2800" dirty="0">
                <a:solidFill>
                  <a:srgbClr val="92D050"/>
                </a:solidFill>
              </a:rPr>
              <a:t>Scores Without</a:t>
            </a:r>
            <a:br>
              <a:rPr sz="2800" dirty="0">
                <a:solidFill>
                  <a:srgbClr val="92D050"/>
                </a:solidFill>
              </a:rPr>
            </a:br>
            <a:r>
              <a:rPr sz="2800" dirty="0">
                <a:solidFill>
                  <a:srgbClr val="92D050"/>
                </a:solidFill>
              </a:rPr>
              <a:t>Explanation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9260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59E0B"/>
                </a:solidFill>
                <a:latin typeface="Calibri"/>
              </a:defRPr>
            </a:pPr>
            <a:r>
              <a:t>black-box</a:t>
            </a:r>
            <a:br/>
            <a:r>
              <a:t>AI ratings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3657600"/>
            <a:ext cx="2560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Managers see a number but can't</a:t>
            </a:r>
            <a:br/>
            <a:r>
              <a:t>tell reps WHY the score is low or</a:t>
            </a:r>
            <a:br/>
            <a:r>
              <a:t>WHAT specific behavior to change.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6B6D4"/>
                </a:solidFill>
                <a:latin typeface="Calibri"/>
              </a:defRPr>
            </a:pPr>
            <a:r>
              <a:t>We need multimodal intelligence — analyzing video, voice, and words together — with real-time, explainable insights.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2E8F0"/>
                </a:solidFill>
                <a:latin typeface="Calibri"/>
              </a:defRPr>
            </a:pPr>
            <a:r>
              <a:t>InsightAI — What We Built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051560"/>
            <a:ext cx="914400" cy="381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An AI-powered meeting analysis platform that reads the room — not just the transcript.</a:t>
            </a:r>
            <a:br/>
            <a:r>
              <a:t>It watches faces, listens to tone, and reads words to deliver a complete picture of every conversation.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286000"/>
            <a:ext cx="3108960" cy="1463040"/>
          </a:xfrm>
          <a:prstGeom prst="roundRect">
            <a:avLst/>
          </a:prstGeom>
          <a:solidFill>
            <a:srgbClr val="111D35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88720" y="23317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Calibri"/>
              </a:defRPr>
            </a:pPr>
            <a:r>
              <a:t>What They Show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6974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👁  Visual Channel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0632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Facial expressions, posture,</a:t>
            </a:r>
            <a:br/>
            <a:r>
              <a:t>gestures, eye contact, energy</a:t>
            </a:r>
            <a:br/>
            <a:r>
              <a:t>level — frame by frame.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286000"/>
            <a:ext cx="3108960" cy="1463040"/>
          </a:xfrm>
          <a:prstGeom prst="roundRect">
            <a:avLst/>
          </a:prstGeom>
          <a:solidFill>
            <a:srgbClr val="111D35"/>
          </a:solidFill>
          <a:ln w="127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63440" y="23317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18CF8"/>
                </a:solidFill>
                <a:latin typeface="Calibri"/>
              </a:defRPr>
            </a:pPr>
            <a:r>
              <a:t>How They Sound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6974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🎙  Audio Channel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0632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Pitch, volume, speaking pace,</a:t>
            </a:r>
            <a:br/>
            <a:r>
              <a:t>pauses, vocal energy —</a:t>
            </a:r>
            <a:br/>
            <a:r>
              <a:t>per speaker, per moment.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2286000"/>
            <a:ext cx="3108960" cy="1463040"/>
          </a:xfrm>
          <a:prstGeom prst="roundRect">
            <a:avLst/>
          </a:prstGeom>
          <a:solidFill>
            <a:srgbClr val="111D35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38160" y="23317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6B6D4"/>
                </a:solidFill>
                <a:latin typeface="Calibri"/>
              </a:defRPr>
            </a:pPr>
            <a:r>
              <a:t>What They Say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26974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💬  Text Channel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30632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Topics, sentiment, objections,</a:t>
            </a:r>
            <a:br/>
            <a:r>
              <a:t>questions, action items —</a:t>
            </a:r>
            <a:br/>
            <a:r>
              <a:t>full transcript intelligence.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39319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59E0B"/>
                </a:solidFill>
                <a:latin typeface="Calibri"/>
              </a:defRPr>
            </a:pPr>
            <a:r>
              <a:t>▼  AI Fusion  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480560"/>
            <a:ext cx="2651760" cy="914400"/>
          </a:xfrm>
          <a:prstGeom prst="roundRect">
            <a:avLst/>
          </a:prstGeom>
          <a:solidFill>
            <a:srgbClr val="111D3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45262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Engagement Scores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8920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Per-person engagement, energy,</a:t>
            </a:r>
            <a:br/>
            <a:r>
              <a:t>rapport, clarity — explained.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29000" y="4480560"/>
            <a:ext cx="2651760" cy="914400"/>
          </a:xfrm>
          <a:prstGeom prst="roundRect">
            <a:avLst/>
          </a:prstGeom>
          <a:solidFill>
            <a:srgbClr val="111D35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11880" y="45262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Smart Coaching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11880" y="48920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What went well, what to improve,</a:t>
            </a:r>
            <a:br/>
            <a:r>
              <a:t>next-best-action suggestions.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59" y="4480560"/>
            <a:ext cx="2651760" cy="914400"/>
          </a:xfrm>
          <a:prstGeom prst="roundRect">
            <a:avLst/>
          </a:prstGeom>
          <a:solidFill>
            <a:srgbClr val="111D35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92239" y="45262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Calibri"/>
              </a:defRPr>
            </a:pPr>
            <a:r>
              <a:t>Meeting Intelligence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39" y="48920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Summary, action items, decisions,</a:t>
            </a:r>
            <a:br/>
            <a:r>
              <a:t>follow-ups — auto-generated.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89719" y="4480560"/>
            <a:ext cx="2651760" cy="914400"/>
          </a:xfrm>
          <a:prstGeom prst="roundRect">
            <a:avLst/>
          </a:prstGeom>
          <a:solidFill>
            <a:srgbClr val="111D35"/>
          </a:solidFill>
          <a:ln w="127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372599" y="45262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18CF8"/>
                </a:solidFill>
                <a:latin typeface="Calibri"/>
              </a:defRPr>
            </a:pPr>
            <a:r>
              <a:t>Reports &amp; Flags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72599" y="48920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PDF export, critical moments</a:t>
            </a:r>
            <a:br/>
            <a:r>
              <a:t>flagged on the timeline.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760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2E8F0"/>
                </a:solidFill>
                <a:latin typeface="Calibri"/>
              </a:defRPr>
            </a:pPr>
            <a:r>
              <a:t>Two modes:  Real-Time (live analysis during playback)   +   Deep Analysis (batch processing for maximum accuracy)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6126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Powered by Core42 Compass  —  100% cloud API, no local GPU required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0309" y="40389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2E8F0"/>
                </a:solidFill>
                <a:latin typeface="Calibri"/>
              </a:defRPr>
            </a:pPr>
            <a:r>
              <a:rPr dirty="0"/>
              <a:t>Beyond This POC — Artificial Emotional Intelligence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64256"/>
            <a:ext cx="914400" cy="38100"/>
          </a:xfrm>
          <a:prstGeom prst="roundRect">
            <a:avLst/>
          </a:prstGeom>
          <a:solidFill>
            <a:srgbClr val="F06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18290"/>
            <a:ext cx="1088136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B0D0"/>
                </a:solidFill>
                <a:latin typeface="Calibri"/>
              </a:defRPr>
            </a:pPr>
            <a:r>
              <a:rPr dirty="0"/>
              <a:t>No off-the-shelf AEI models exist — companies like </a:t>
            </a:r>
            <a:r>
              <a:rPr dirty="0" err="1"/>
              <a:t>Simpleem</a:t>
            </a:r>
            <a:r>
              <a:rPr dirty="0"/>
              <a:t> and </a:t>
            </a:r>
            <a:r>
              <a:rPr dirty="0" err="1"/>
              <a:t>Affectiva</a:t>
            </a:r>
            <a:r>
              <a:rPr dirty="0"/>
              <a:t> keep theirs proprietary.</a:t>
            </a:r>
            <a:br>
              <a:rPr dirty="0"/>
            </a:br>
            <a:r>
              <a:rPr dirty="0"/>
              <a:t>We combined general-purpose models (GPT-4o Vision, Whisper, GPT-4.1) to bridge the gap. Training a dedicated model is the next</a:t>
            </a:r>
            <a:r>
              <a:rPr lang="en-US" dirty="0"/>
              <a:t> </a:t>
            </a:r>
            <a:r>
              <a:rPr dirty="0"/>
              <a:t>leap.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38048"/>
            <a:ext cx="10241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2E8F0"/>
                </a:solidFill>
                <a:latin typeface="Calibri"/>
              </a:defRPr>
            </a:pPr>
            <a:r>
              <a:t>Where this multimodal engine can go: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926080"/>
            <a:ext cx="3383280" cy="1280160"/>
          </a:xfrm>
          <a:prstGeom prst="roundRect">
            <a:avLst/>
          </a:prstGeom>
          <a:solidFill>
            <a:srgbClr val="111D35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30632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Calibri"/>
              </a:defRPr>
            </a:pPr>
            <a:r>
              <a:t>Sales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47472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rPr dirty="0"/>
              <a:t>Predict deal outcomes</a:t>
            </a:r>
            <a:br>
              <a:rPr dirty="0"/>
            </a:br>
            <a:r>
              <a:rPr dirty="0"/>
              <a:t>from rep behavior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2926080"/>
            <a:ext cx="3383280" cy="1280160"/>
          </a:xfrm>
          <a:prstGeom prst="roundRect">
            <a:avLst/>
          </a:prstGeom>
          <a:solidFill>
            <a:srgbClr val="111D3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54879" y="30632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Calibri"/>
              </a:defRPr>
            </a:pPr>
            <a:r>
              <a:t>HR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79" y="347472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rPr dirty="0"/>
              <a:t>Reduce interviewer bias</a:t>
            </a:r>
            <a:br>
              <a:rPr dirty="0"/>
            </a:br>
            <a:r>
              <a:rPr dirty="0"/>
              <a:t>with behavioral 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2926080"/>
            <a:ext cx="3383280" cy="1280160"/>
          </a:xfrm>
          <a:prstGeom prst="roundRect">
            <a:avLst/>
          </a:prstGeom>
          <a:solidFill>
            <a:srgbClr val="111D35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03920" y="30632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Calibri"/>
              </a:defRPr>
            </a:pPr>
            <a:r>
              <a:t>Training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347472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rPr dirty="0"/>
              <a:t>Measure engagement</a:t>
            </a:r>
            <a:br>
              <a:rPr dirty="0"/>
            </a:br>
            <a:r>
              <a:rPr dirty="0"/>
              <a:t>in real-time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572000"/>
            <a:ext cx="3383280" cy="1280160"/>
          </a:xfrm>
          <a:prstGeom prst="roundRect">
            <a:avLst/>
          </a:prstGeom>
          <a:solidFill>
            <a:srgbClr val="111D35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5840" y="47091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6B6D4"/>
                </a:solidFill>
                <a:latin typeface="Calibri"/>
              </a:defRPr>
            </a:pPr>
            <a:r>
              <a:t>Customer Success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12064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Detect churn risk</a:t>
            </a:r>
            <a:br/>
            <a:r>
              <a:t>from call sentiment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80559" y="4572000"/>
            <a:ext cx="3383280" cy="1280160"/>
          </a:xfrm>
          <a:prstGeom prst="roundRect">
            <a:avLst/>
          </a:prstGeom>
          <a:solidFill>
            <a:srgbClr val="111D35"/>
          </a:solidFill>
          <a:ln w="127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754879" y="47091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18CF8"/>
                </a:solidFill>
                <a:latin typeface="Calibri"/>
              </a:defRPr>
            </a:pPr>
            <a:r>
              <a:rPr dirty="0"/>
              <a:t>Healthcare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79" y="512064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Track patient state</a:t>
            </a:r>
            <a:br/>
            <a:r>
              <a:t>during consultations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4572000"/>
            <a:ext cx="3383280" cy="1280160"/>
          </a:xfrm>
          <a:prstGeom prst="roundRect">
            <a:avLst/>
          </a:prstGeom>
          <a:solidFill>
            <a:srgbClr val="111D35"/>
          </a:solidFill>
          <a:ln w="12700">
            <a:solidFill>
              <a:srgbClr val="F06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503920" y="47091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6EAA"/>
                </a:solidFill>
                <a:latin typeface="Calibri"/>
              </a:defRPr>
            </a:pPr>
            <a:r>
              <a:t>Leadership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512064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Measure team dynamics</a:t>
            </a:r>
            <a:br/>
            <a:r>
              <a:t>and inclusion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599" y="6126479"/>
            <a:ext cx="930710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59E0B"/>
                </a:solidFill>
                <a:latin typeface="Calibri"/>
              </a:defRPr>
            </a:pPr>
            <a:r>
              <a:rPr dirty="0"/>
              <a:t>Out of scope today — but building a dedicated AEI model is a strategic direction worth a separate proposal.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2E8F0"/>
                </a:solidFill>
                <a:latin typeface="Calibri"/>
              </a:defRPr>
            </a:pPr>
            <a:r>
              <a:t>What You're About to See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051560"/>
            <a:ext cx="914400" cy="381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Live demo walkthrough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291840" cy="1645920"/>
          </a:xfrm>
          <a:prstGeom prst="roundRect">
            <a:avLst/>
          </a:prstGeom>
          <a:solidFill>
            <a:srgbClr val="111D35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14400" y="2194560"/>
            <a:ext cx="365760" cy="3657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A1628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1945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Calibri"/>
              </a:defRPr>
            </a:pPr>
            <a:r>
              <a:t>Upload &amp; Analyze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74320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Upload a meeting recording → watch the AI</a:t>
            </a:r>
            <a:br/>
            <a:r>
              <a:t>progress through analysis stages in real-time.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011680"/>
            <a:ext cx="3291840" cy="1645920"/>
          </a:xfrm>
          <a:prstGeom prst="roundRect">
            <a:avLst/>
          </a:prstGeom>
          <a:solidFill>
            <a:srgbClr val="111D3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572000" y="2194560"/>
            <a:ext cx="365760" cy="3657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21945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A1628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21945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Calibri"/>
              </a:defRPr>
            </a:pPr>
            <a:r>
              <a:t>Dashboard Overview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74320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Per-participant engagement, sentiment, energy</a:t>
            </a:r>
            <a:br/>
            <a:r>
              <a:t>scores. Speaking distribution donut chart.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011680"/>
            <a:ext cx="3291840" cy="1645920"/>
          </a:xfrm>
          <a:prstGeom prst="roundRect">
            <a:avLst/>
          </a:prstGeom>
          <a:solidFill>
            <a:srgbClr val="111D35"/>
          </a:solidFill>
          <a:ln w="127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229600" y="2194560"/>
            <a:ext cx="365760" cy="365760"/>
          </a:xfrm>
          <a:prstGeom prst="round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0" y="21945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A1628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21945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18CF8"/>
                </a:solidFill>
                <a:latin typeface="Calibri"/>
              </a:defRPr>
            </a:pPr>
            <a:r>
              <a:t>Signal Deep-Dive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74320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Emotion timeline, body language trends,</a:t>
            </a:r>
            <a:br/>
            <a:r>
              <a:t>gesture frequency, voice metrics per speaker.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114800"/>
            <a:ext cx="3291840" cy="1645920"/>
          </a:xfrm>
          <a:prstGeom prst="roundRect">
            <a:avLst/>
          </a:prstGeom>
          <a:solidFill>
            <a:srgbClr val="111D35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914400" y="4297680"/>
            <a:ext cx="365760" cy="36576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42976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A1628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2976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B6D4"/>
                </a:solidFill>
                <a:latin typeface="Calibri"/>
              </a:defRPr>
            </a:pPr>
            <a:r>
              <a:t>Meeting Intelligence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84632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AI-generated summary, action items, decisions,</a:t>
            </a:r>
            <a:br/>
            <a:r>
              <a:t>follow-ups, and open questions.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0" y="4114800"/>
            <a:ext cx="3291840" cy="1645920"/>
          </a:xfrm>
          <a:prstGeom prst="roundRect">
            <a:avLst/>
          </a:prstGeom>
          <a:solidFill>
            <a:srgbClr val="111D35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4572000" y="4297680"/>
            <a:ext cx="365760" cy="3657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0" y="42976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A1628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42976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Coaching &amp; Flags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484632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Critical moments flagged on the timeline.</a:t>
            </a:r>
            <a:br/>
            <a:r>
              <a:t>Personalized coaching tips per participant.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20" y="4114800"/>
            <a:ext cx="3291840" cy="1645920"/>
          </a:xfrm>
          <a:prstGeom prst="roundRect">
            <a:avLst/>
          </a:prstGeom>
          <a:solidFill>
            <a:srgbClr val="111D35"/>
          </a:solidFill>
          <a:ln w="12700">
            <a:solidFill>
              <a:srgbClr val="F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229600" y="4297680"/>
            <a:ext cx="365760" cy="365760"/>
          </a:xfrm>
          <a:prstGeom prst="roundRect">
            <a:avLst/>
          </a:prstGeom>
          <a:solidFill>
            <a:srgbClr val="F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29600" y="42976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A1628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42976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6060"/>
                </a:solidFill>
                <a:latin typeface="Calibri"/>
              </a:defRPr>
            </a:pPr>
            <a:r>
              <a:t>One-Click Export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484632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Full PDF report and CSV data export</a:t>
            </a:r>
            <a:br/>
            <a:r>
              <a:t>ready to share with stakeholders.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0" y="61264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0B981"/>
                </a:solidFill>
                <a:latin typeface="Calibri"/>
              </a:defRPr>
            </a:pPr>
            <a:r>
              <a:t>Let's see it in action  →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1555</Words>
  <Application>Microsoft Macintosh PowerPoint</Application>
  <PresentationFormat>Widescreen</PresentationFormat>
  <Paragraphs>128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Anup Roy</cp:lastModifiedBy>
  <cp:revision>4</cp:revision>
  <dcterms:created xsi:type="dcterms:W3CDTF">2013-01-27T09:14:16Z</dcterms:created>
  <dcterms:modified xsi:type="dcterms:W3CDTF">2026-02-21T15:52:21Z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9ea7407-5844-49ec-aa4f-9b4135bf0609_Enabled">
    <vt:lpwstr>true</vt:lpwstr>
  </property>
  <property fmtid="{D5CDD505-2E9C-101B-9397-08002B2CF9AE}" pid="3" name="MSIP_Label_09ea7407-5844-49ec-aa4f-9b4135bf0609_SetDate">
    <vt:lpwstr>2026-02-19T07:45:35Z</vt:lpwstr>
  </property>
  <property fmtid="{D5CDD505-2E9C-101B-9397-08002B2CF9AE}" pid="4" name="MSIP_Label_09ea7407-5844-49ec-aa4f-9b4135bf0609_Method">
    <vt:lpwstr>Standard</vt:lpwstr>
  </property>
  <property fmtid="{D5CDD505-2E9C-101B-9397-08002B2CF9AE}" pid="5" name="MSIP_Label_09ea7407-5844-49ec-aa4f-9b4135bf0609_Name">
    <vt:lpwstr>Restricted-Core42</vt:lpwstr>
  </property>
  <property fmtid="{D5CDD505-2E9C-101B-9397-08002B2CF9AE}" pid="6" name="MSIP_Label_09ea7407-5844-49ec-aa4f-9b4135bf0609_SiteId">
    <vt:lpwstr>62974d97-13b6-40c9-8576-f1ab2905b6cf</vt:lpwstr>
  </property>
  <property fmtid="{D5CDD505-2E9C-101B-9397-08002B2CF9AE}" pid="7" name="MSIP_Label_09ea7407-5844-49ec-aa4f-9b4135bf0609_ActionId">
    <vt:lpwstr>fe1eaa0e-4d9c-47a3-9c60-d647014e5613</vt:lpwstr>
  </property>
  <property fmtid="{D5CDD505-2E9C-101B-9397-08002B2CF9AE}" pid="8" name="MSIP_Label_09ea7407-5844-49ec-aa4f-9b4135bf0609_ContentBits">
    <vt:lpwstr>3</vt:lpwstr>
  </property>
  <property fmtid="{D5CDD505-2E9C-101B-9397-08002B2CF9AE}" pid="9" name="MSIP_Label_09ea7407-5844-49ec-aa4f-9b4135bf0609_Tag">
    <vt:lpwstr>50, 1, 2, 1</vt:lpwstr>
  </property>
  <property fmtid="{D5CDD505-2E9C-101B-9397-08002B2CF9AE}" pid="10" name="ClassificationContentMarkingFooterLocations">
    <vt:lpwstr>Office Theme:10</vt:lpwstr>
  </property>
  <property fmtid="{D5CDD505-2E9C-101B-9397-08002B2CF9AE}" pid="11" name="ClassificationContentMarkingFooterText">
    <vt:lpwstr>RESTRICTED </vt:lpwstr>
  </property>
  <property fmtid="{D5CDD505-2E9C-101B-9397-08002B2CF9AE}" pid="12" name="ClassificationContentMarkingHeaderLocations">
    <vt:lpwstr>Office Theme:9</vt:lpwstr>
  </property>
  <property fmtid="{D5CDD505-2E9C-101B-9397-08002B2CF9AE}" pid="13" name="ClassificationContentMarkingHeaderText">
    <vt:lpwstr> </vt:lpwstr>
  </property>
</Properties>
</file>