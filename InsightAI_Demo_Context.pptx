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2560320"/>
            <a:ext cx="1371600" cy="508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E2E8F0"/>
                </a:solidFill>
                <a:latin typeface="Calibri"/>
              </a:defRPr>
            </a:pPr>
            <a:r>
              <a:t>InsightAI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94A3B8"/>
                </a:solidFill>
                <a:latin typeface="Calibri"/>
              </a:defRPr>
            </a:pPr>
            <a:r>
              <a:t>Multimodal Meeting Intelligence — Powered by Core42 Compass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Calibri"/>
              </a:defRPr>
            </a:pPr>
            <a:r>
              <a:t>Bringing Artificial Emotional Intelligence (AEI) to every conversation.</a:t>
            </a:r>
            <a:br/>
            <a:r>
              <a:t>Video  +  Audio  +  Text  →  Engagement  |  Coaching  |  Actionable Insights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760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Internal POC  •  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2E8F0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051560"/>
            <a:ext cx="914400" cy="381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3108960" cy="3840480"/>
          </a:xfrm>
          <a:prstGeom prst="roundRect">
            <a:avLst/>
          </a:prstGeom>
          <a:solidFill>
            <a:srgbClr val="111D35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92024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EF4444"/>
                </a:solidFill>
                <a:latin typeface="Calibri"/>
              </a:defRPr>
            </a:pPr>
            <a:r>
              <a:t>93%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9260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59E0B"/>
                </a:solidFill>
                <a:latin typeface="Calibri"/>
              </a:defRPr>
            </a:pPr>
            <a:r>
              <a:t>of communication</a:t>
            </a:r>
            <a:br/>
            <a:r>
              <a:t>is non-verbal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657600"/>
            <a:ext cx="2560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Text-only tools like Gong, Chorus</a:t>
            </a:r>
            <a:br/>
            <a:r>
              <a:t>capture words but miss body language,</a:t>
            </a:r>
            <a:br/>
            <a:r>
              <a:t>tone, energy, and facial expressions.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108960" cy="3840480"/>
          </a:xfrm>
          <a:prstGeom prst="roundRect">
            <a:avLst/>
          </a:prstGeom>
          <a:solidFill>
            <a:srgbClr val="111D35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92024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EF4444"/>
                </a:solidFill>
                <a:latin typeface="Calibri"/>
              </a:defRPr>
            </a:pPr>
            <a:r>
              <a:t>No Real-Time</a:t>
            </a:r>
            <a:br/>
            <a:r>
              <a:t>Feedback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9260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59E0B"/>
                </a:solidFill>
                <a:latin typeface="Calibri"/>
              </a:defRPr>
            </a:pPr>
            <a:r>
              <a:t>during the</a:t>
            </a:r>
            <a:br/>
            <a:r>
              <a:t>conversation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657600"/>
            <a:ext cx="2560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Coaching happens days later in a</a:t>
            </a:r>
            <a:br/>
            <a:r>
              <a:t>report nobody reads. By then the</a:t>
            </a:r>
            <a:br/>
            <a:r>
              <a:t>deal is lost or the candidate gone.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1645920"/>
            <a:ext cx="3108960" cy="3840480"/>
          </a:xfrm>
          <a:prstGeom prst="roundRect">
            <a:avLst/>
          </a:prstGeom>
          <a:solidFill>
            <a:srgbClr val="111D35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192024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EF4444"/>
                </a:solidFill>
                <a:latin typeface="Calibri"/>
              </a:defRPr>
            </a:pPr>
            <a:r>
              <a:t>Scores Without</a:t>
            </a:r>
            <a:br/>
            <a:r>
              <a:t>Explanation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9260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59E0B"/>
                </a:solidFill>
                <a:latin typeface="Calibri"/>
              </a:defRPr>
            </a:pPr>
            <a:r>
              <a:t>black-box</a:t>
            </a:r>
            <a:br/>
            <a:r>
              <a:t>AI ratings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3657600"/>
            <a:ext cx="2560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Managers get a number with no</a:t>
            </a:r>
            <a:br/>
            <a:r>
              <a:t>context. They can't tell reps WHY</a:t>
            </a:r>
            <a:br/>
            <a:r>
              <a:t>the score is low, WHICH behavior</a:t>
            </a:r>
            <a:br/>
            <a:r>
              <a:t>hurt them, or WHAT to do differently</a:t>
            </a:r>
            <a:br/>
            <a:r>
              <a:t>next time. Without explainability,</a:t>
            </a:r>
            <a:br/>
            <a:r>
              <a:t>scores don't drive improvement.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6B6D4"/>
                </a:solidFill>
                <a:latin typeface="Calibri"/>
              </a:defRPr>
            </a:pPr>
            <a:r>
              <a:t>We need multimodal intelligence — analyzing video, voice, and words together — with real-time, explainable insights.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2E8F0"/>
                </a:solidFill>
                <a:latin typeface="Calibri"/>
              </a:defRPr>
            </a:pPr>
            <a:r>
              <a:t>InsightAI — What We Built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051560"/>
            <a:ext cx="914400" cy="381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An AI-powered meeting analysis platform that reads the room — not just the transcript.</a:t>
            </a:r>
            <a:br/>
            <a:r>
              <a:t>It watches faces, listens to tone, and reads words to deliver a complete picture of every conversation.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286000"/>
            <a:ext cx="3108960" cy="1463040"/>
          </a:xfrm>
          <a:prstGeom prst="roundRect">
            <a:avLst/>
          </a:prstGeom>
          <a:solidFill>
            <a:srgbClr val="111D35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3317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Calibri"/>
              </a:defRPr>
            </a:pPr>
            <a:r>
              <a:t>What They Show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6974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👁  Visual Channel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0632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Facial expressions, posture,</a:t>
            </a:r>
            <a:br/>
            <a:r>
              <a:t>gestures, eye contact, energy</a:t>
            </a:r>
            <a:br/>
            <a:r>
              <a:t>level — frame by frame.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286000"/>
            <a:ext cx="3108960" cy="1463040"/>
          </a:xfrm>
          <a:prstGeom prst="roundRect">
            <a:avLst/>
          </a:prstGeom>
          <a:solidFill>
            <a:srgbClr val="111D35"/>
          </a:solidFill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3317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18CF8"/>
                </a:solidFill>
                <a:latin typeface="Calibri"/>
              </a:defRPr>
            </a:pPr>
            <a:r>
              <a:t>How They Sound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6974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🎙  Audio Channel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0632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Pitch, volume, speaking pace,</a:t>
            </a:r>
            <a:br/>
            <a:r>
              <a:t>pauses, vocal energy —</a:t>
            </a:r>
            <a:br/>
            <a:r>
              <a:t>per speaker, per moment.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2286000"/>
            <a:ext cx="3108960" cy="1463040"/>
          </a:xfrm>
          <a:prstGeom prst="roundRect">
            <a:avLst/>
          </a:prstGeom>
          <a:solidFill>
            <a:srgbClr val="111D35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23317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6B6D4"/>
                </a:solidFill>
                <a:latin typeface="Calibri"/>
              </a:defRPr>
            </a:pPr>
            <a:r>
              <a:t>What They Say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26974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💬  Text Channel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30632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Topics, sentiment, objections,</a:t>
            </a:r>
            <a:br/>
            <a:r>
              <a:t>questions, action items —</a:t>
            </a:r>
            <a:br/>
            <a:r>
              <a:t>full transcript intelligence.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39319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59E0B"/>
                </a:solidFill>
                <a:latin typeface="Calibri"/>
              </a:defRPr>
            </a:pPr>
            <a:r>
              <a:t>▼  AI Fusion  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480560"/>
            <a:ext cx="2651760" cy="914400"/>
          </a:xfrm>
          <a:prstGeom prst="roundRect">
            <a:avLst/>
          </a:prstGeom>
          <a:solidFill>
            <a:srgbClr val="111D3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5262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Engagement Scores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8920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Per-person engagement, energy,</a:t>
            </a:r>
            <a:br/>
            <a:r>
              <a:t>rapport, clarity — explained.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29000" y="4480560"/>
            <a:ext cx="2651760" cy="914400"/>
          </a:xfrm>
          <a:prstGeom prst="roundRect">
            <a:avLst/>
          </a:prstGeom>
          <a:solidFill>
            <a:srgbClr val="111D35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11880" y="45262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Smart Coaching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11880" y="48920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What went well, what to improve,</a:t>
            </a:r>
            <a:br/>
            <a:r>
              <a:t>next-best-action suggestions.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59" y="4480560"/>
            <a:ext cx="2651760" cy="914400"/>
          </a:xfrm>
          <a:prstGeom prst="roundRect">
            <a:avLst/>
          </a:prstGeom>
          <a:solidFill>
            <a:srgbClr val="111D35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39" y="45262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Calibri"/>
              </a:defRPr>
            </a:pPr>
            <a:r>
              <a:t>Meeting Intelligence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39" y="48920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Summary, action items, decisions,</a:t>
            </a:r>
            <a:br/>
            <a:r>
              <a:t>follow-ups — auto-generated.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89719" y="4480560"/>
            <a:ext cx="2651760" cy="914400"/>
          </a:xfrm>
          <a:prstGeom prst="roundRect">
            <a:avLst/>
          </a:prstGeom>
          <a:solidFill>
            <a:srgbClr val="111D35"/>
          </a:solidFill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72599" y="45262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18CF8"/>
                </a:solidFill>
                <a:latin typeface="Calibri"/>
              </a:defRPr>
            </a:pPr>
            <a:r>
              <a:t>Reports &amp; Flags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72599" y="48920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PDF export, critical moments</a:t>
            </a:r>
            <a:br/>
            <a:r>
              <a:t>flagged on the timeline.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2E8F0"/>
                </a:solidFill>
                <a:latin typeface="Calibri"/>
              </a:defRPr>
            </a:pPr>
            <a:r>
              <a:t>Two modes:  Real-Time (live analysis during playback)   +   Deep Analysis (batch processing for maximum accuracy)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6126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Powered by Core42 Compass  —  100% cloud API, no local GPU required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2E8F0"/>
                </a:solidFill>
                <a:latin typeface="Calibri"/>
              </a:defRPr>
            </a:pPr>
            <a:r>
              <a:t>Beyond This POC — Artificial Emotional Intelligence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051560"/>
            <a:ext cx="914400" cy="38100"/>
          </a:xfrm>
          <a:prstGeom prst="roundRect">
            <a:avLst/>
          </a:prstGeom>
          <a:solidFill>
            <a:srgbClr val="F06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B0D0"/>
                </a:solidFill>
                <a:latin typeface="Calibri"/>
              </a:defRPr>
            </a:pPr>
            <a:r>
              <a:t>No off-the-shelf AEI models exist — companies like Simpleem and Affectiva keep theirs proprietary.</a:t>
            </a:r>
            <a:br/>
            <a:r>
              <a:t>We combined general-purpose models (GPT-4o Vision, Whisper, GPT-4.1) to bridge the gap. Training a dedicated model is the next leap.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2E8F0"/>
                </a:solidFill>
                <a:latin typeface="Calibri"/>
              </a:defRPr>
            </a:pPr>
            <a:r>
              <a:t>Where this multimodal engine can go: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26080"/>
            <a:ext cx="3383280" cy="1280160"/>
          </a:xfrm>
          <a:prstGeom prst="roundRect">
            <a:avLst/>
          </a:prstGeom>
          <a:solidFill>
            <a:srgbClr val="111D35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0632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Calibri"/>
              </a:defRPr>
            </a:pPr>
            <a:r>
              <a:t>Sales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47472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Predict deal outcomes</a:t>
            </a:r>
            <a:br/>
            <a:r>
              <a:t>from rep behavior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2926080"/>
            <a:ext cx="3383280" cy="1280160"/>
          </a:xfrm>
          <a:prstGeom prst="roundRect">
            <a:avLst/>
          </a:prstGeom>
          <a:solidFill>
            <a:srgbClr val="111D3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79" y="30632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Calibri"/>
              </a:defRPr>
            </a:pPr>
            <a:r>
              <a:t>HR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79" y="347472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Reduce interviewer bias</a:t>
            </a:r>
            <a:br/>
            <a:r>
              <a:t>with behavioral 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2926080"/>
            <a:ext cx="3383280" cy="1280160"/>
          </a:xfrm>
          <a:prstGeom prst="roundRect">
            <a:avLst/>
          </a:prstGeom>
          <a:solidFill>
            <a:srgbClr val="111D35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30632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Calibri"/>
              </a:defRPr>
            </a:pPr>
            <a:r>
              <a:t>Training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347472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Measure engagement</a:t>
            </a:r>
            <a:br/>
            <a:r>
              <a:t>in real-time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572000"/>
            <a:ext cx="3383280" cy="1280160"/>
          </a:xfrm>
          <a:prstGeom prst="roundRect">
            <a:avLst/>
          </a:prstGeom>
          <a:solidFill>
            <a:srgbClr val="111D35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7091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6B6D4"/>
                </a:solidFill>
                <a:latin typeface="Calibri"/>
              </a:defRPr>
            </a:pPr>
            <a:r>
              <a:t>Customer Success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12064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Detect churn risk</a:t>
            </a:r>
            <a:br/>
            <a:r>
              <a:t>from call sentiment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0559" y="4572000"/>
            <a:ext cx="3383280" cy="1280160"/>
          </a:xfrm>
          <a:prstGeom prst="roundRect">
            <a:avLst/>
          </a:prstGeom>
          <a:solidFill>
            <a:srgbClr val="111D35"/>
          </a:solidFill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79" y="47091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18CF8"/>
                </a:solidFill>
                <a:latin typeface="Calibri"/>
              </a:defRPr>
            </a:pPr>
            <a:r>
              <a:t>Healthcare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79" y="512064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Track patient state</a:t>
            </a:r>
            <a:br/>
            <a:r>
              <a:t>during consultations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4572000"/>
            <a:ext cx="3383280" cy="1280160"/>
          </a:xfrm>
          <a:prstGeom prst="roundRect">
            <a:avLst/>
          </a:prstGeom>
          <a:solidFill>
            <a:srgbClr val="111D35"/>
          </a:solidFill>
          <a:ln w="12700">
            <a:solidFill>
              <a:srgbClr val="F06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0" y="47091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6EAA"/>
                </a:solidFill>
                <a:latin typeface="Calibri"/>
              </a:defRPr>
            </a:pPr>
            <a:r>
              <a:t>Leadership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512064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Measure team dynamics</a:t>
            </a:r>
            <a:br/>
            <a:r>
              <a:t>and inclusion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6126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59E0B"/>
                </a:solidFill>
                <a:latin typeface="Calibri"/>
              </a:defRPr>
            </a:pPr>
            <a:r>
              <a:t>Out of scope today — but building a dedicated AEI model is a strategic direction worth a separate proposal.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2E8F0"/>
                </a:solidFill>
                <a:latin typeface="Calibri"/>
              </a:defRPr>
            </a:pPr>
            <a:r>
              <a:t>What You're About to See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051560"/>
            <a:ext cx="914400" cy="381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Live demo walkthrough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291840" cy="1645920"/>
          </a:xfrm>
          <a:prstGeom prst="roundRect">
            <a:avLst/>
          </a:prstGeom>
          <a:solidFill>
            <a:srgbClr val="111D35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2194560"/>
            <a:ext cx="365760" cy="3657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A1628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1945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Calibri"/>
              </a:defRPr>
            </a:pPr>
            <a:r>
              <a:t>Upload &amp; Analyze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74320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Upload a meeting recording → watch the AI</a:t>
            </a:r>
            <a:br/>
            <a:r>
              <a:t>progress through analysis stages in real-time.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011680"/>
            <a:ext cx="3291840" cy="1645920"/>
          </a:xfrm>
          <a:prstGeom prst="roundRect">
            <a:avLst/>
          </a:prstGeom>
          <a:solidFill>
            <a:srgbClr val="111D3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0" y="2194560"/>
            <a:ext cx="365760" cy="3657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1945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A1628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1945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Calibri"/>
              </a:defRPr>
            </a:pPr>
            <a:r>
              <a:t>Dashboard Overview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74320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Per-participant engagement, sentiment, energy</a:t>
            </a:r>
            <a:br/>
            <a:r>
              <a:t>scores. Speaking distribution donut chart.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011680"/>
            <a:ext cx="3291840" cy="1645920"/>
          </a:xfrm>
          <a:prstGeom prst="roundRect">
            <a:avLst/>
          </a:prstGeom>
          <a:solidFill>
            <a:srgbClr val="111D35"/>
          </a:solidFill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00" y="2194560"/>
            <a:ext cx="365760" cy="365760"/>
          </a:xfrm>
          <a:prstGeom prst="round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1945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A1628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21945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18CF8"/>
                </a:solidFill>
                <a:latin typeface="Calibri"/>
              </a:defRPr>
            </a:pPr>
            <a:r>
              <a:t>Signal Deep-Dive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74320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Emotion timeline, body language trends,</a:t>
            </a:r>
            <a:br/>
            <a:r>
              <a:t>gesture frequency, voice metrics per speaker.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114800"/>
            <a:ext cx="3291840" cy="1645920"/>
          </a:xfrm>
          <a:prstGeom prst="roundRect">
            <a:avLst/>
          </a:prstGeom>
          <a:solidFill>
            <a:srgbClr val="111D35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4400" y="4297680"/>
            <a:ext cx="365760" cy="36576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2976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A1628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2976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B6D4"/>
                </a:solidFill>
                <a:latin typeface="Calibri"/>
              </a:defRPr>
            </a:pPr>
            <a:r>
              <a:t>Meeting Intelligence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84632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AI-generated summary, action items, decisions,</a:t>
            </a:r>
            <a:br/>
            <a:r>
              <a:t>follow-ups, and open questions.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0" y="4114800"/>
            <a:ext cx="3291840" cy="1645920"/>
          </a:xfrm>
          <a:prstGeom prst="roundRect">
            <a:avLst/>
          </a:prstGeom>
          <a:solidFill>
            <a:srgbClr val="111D35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572000" y="4297680"/>
            <a:ext cx="365760" cy="3657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0" y="42976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A1628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42976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Coaching &amp; Flags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484632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Critical moments flagged on the timeline.</a:t>
            </a:r>
            <a:br/>
            <a:r>
              <a:t>Personalized coaching tips per participant.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20" y="4114800"/>
            <a:ext cx="3291840" cy="1645920"/>
          </a:xfrm>
          <a:prstGeom prst="roundRect">
            <a:avLst/>
          </a:prstGeom>
          <a:solidFill>
            <a:srgbClr val="111D35"/>
          </a:solidFill>
          <a:ln w="12700">
            <a:solidFill>
              <a:srgbClr val="F0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229600" y="4297680"/>
            <a:ext cx="365760" cy="365760"/>
          </a:xfrm>
          <a:prstGeom prst="roundRect">
            <a:avLst/>
          </a:prstGeom>
          <a:solidFill>
            <a:srgbClr val="F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0" y="42976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A1628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42976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6060"/>
                </a:solidFill>
                <a:latin typeface="Calibri"/>
              </a:defRPr>
            </a:pPr>
            <a:r>
              <a:t>One-Click Export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484632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Full PDF report and CSV data export</a:t>
            </a:r>
            <a:br/>
            <a:r>
              <a:t>ready to share with stakeholders.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0" y="61264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0B981"/>
                </a:solidFill>
                <a:latin typeface="Calibri"/>
              </a:defRPr>
            </a:pPr>
            <a:r>
              <a:t>Let's see it in action  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